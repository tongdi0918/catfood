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5"/>
  </p:notesMasterIdLst>
  <p:sldIdLst>
    <p:sldId id="256" r:id="rId4"/>
    <p:sldId id="257" r:id="rId5"/>
    <p:sldId id="266" r:id="rId6"/>
    <p:sldId id="259" r:id="rId7"/>
    <p:sldId id="260" r:id="rId8"/>
    <p:sldId id="261" r:id="rId9"/>
    <p:sldId id="258" r:id="rId10"/>
    <p:sldId id="262" r:id="rId11"/>
    <p:sldId id="263" r:id="rId12"/>
    <p:sldId id="264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各位老师好，我是易鹏举，今天我答辩的题目是"喵鲜猫粮商城的设计与实现"。这是一个基于JavaWeb技术栈开发的猫粮线上购物平台，面向养猫人群提供完整的商品浏览、购物车选购和订单购买流程。接下来我将从项目概述、技术架构、功能模块、数据库设计和总结展望五个方面进行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本次答辩共五个部分：首先介绍项目概述和背景，然后是技术选型与整体架构，接着详细介绍系统的五大功能模块，之后是数据库设计，最后展示管理员后台功能。整个汇报大约五分钟时间。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介绍项目概述。"喵鲜猫粮商城"是一个基于JavaWeb技术栈开发的课程项目，面向养猫人群提供从商品浏览到下单购买的完整购物流程，同时为管理员提供后台管理能力。项目主要解决五个核心问题：商品展示与检索、用户注册登录、购物车流程、订单状态管理、以及管理员后台统一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37126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技术选型方面，后端采用 Java 17 和 Jakarta Servlet 5.0，运行在 Tomcat 10 容器上；前端使用 HTML5、CSS3 和原生 JavaScript，通过 AJAX 实现无刷新交互；数据库采用 MySQL 8.0。整体采用标准的 MVC 三层架构：Model 层负责数据和业务逻辑，View 层是 JSP 页面负责展示，Controller 层是 Servlet 接收和处理请求。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系统共分为五大功能模块：用户模块负责注册登录和个人信息管理；商品模块负责商品展示、分类筛选和后台管理；购物车模块基于 Session 实现加购、数量调整和金额计算；订单模块负责下单、支付、取消和状态流转；权限模块区分普通用户和管理员的不同权限。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用户模块方面，实现了用户注册和登录功能。左边是注册页面，用户输入用户名和密码即可注册账号。登录页面采用相同的橙色设计风格，用户输入账号密码后验证通过即可进入商城。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介绍项目概述。"喵鲜猫粮商城"是一个基于JavaWeb技术栈开发的课程项目，面向养猫人群提供从商品浏览到下单购买的完整购物流程，同时为管理员提供后台管理能力。项目主要解决五个核心问题：商品展示与检索、用户注册登录、购物车流程、订单状态管理、以及管理员后台统一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商品模块方面，左边是商品列表页面，支持按分类筛选和关键词搜索，展示商品图片、价格、分类和库存。右边是商品详情页面，展示完整的商品信息，用户可以选择加入购物车或直接立即购买。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购物车与订单模块方面，左边是购物车结算页面，支持商品数量增减调整，库存不足时会自动弹出提示。用户填写收货人、联系电话和收货地址后提交订单。右边是我的订单页面，展示用户的所有订单，待付款状态下可以进行支付或取消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最后是管理员后台的商品管理页面。管理员登录后可以查看所有商品列表，支持新增商品、编辑商品信息、删除商品以及商品上下架操作。目前后台共有9款猫粮商品，覆盖幼猫、成猫、全期等不同分类。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各位老师好，我是易鹏举，今天我答辩的题目是"喵鲜猫粮商城的设计与实现"。这是一个基于JavaWeb技术栈开发的猫粮线上购物平台，面向养猫人群提供完整的商品浏览、购物车选购和订单购买流程。接下来我将从项目概述、技术架构、功能模块、数据库设计和总结展望五个方面进行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55209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2525592-4B09-4CE6-985D-C2586FE79BA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6998823-5EE7-4C33-A3CB-8C2E974B840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B09CC6E-B173-402F-ABF0-97EBD1502DC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3B3AB02-B284-4B38-A870-67C7DB0897E7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A7E0782-B8F9-42DF-B0F4-1BC1723A9DC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7AAA423-4613-4C2A-AF5D-9D04E2E5FEA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C0F3B19-2D88-4B82-93AF-291EC5203F2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D505D17-AF0D-4A46-9EAD-F4B4AD5E26D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2D12568-A080-423E-A967-184036639DA4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6D5111F-20CE-4337-95E3-98BF726A663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C0D8BEC-3806-4BDB-A9A7-6781E401686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86337C1-1F8F-4997-BFF1-820A39E13DD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1016000"/>
            <a:ext cx="1905000" cy="1905000"/>
          </a:xfrm>
          <a:prstGeom prst="ellipse">
            <a:avLst/>
          </a:prstGeom>
          <a:solidFill>
            <a:srgbClr val="FF7B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414000" y="3810000"/>
            <a:ext cx="1524000" cy="1524000"/>
          </a:xfrm>
          <a:prstGeom prst="ellipse">
            <a:avLst/>
          </a:prstGeom>
          <a:solidFill>
            <a:srgbClr val="FDBA7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1016000" y="1778000"/>
            <a:ext cx="825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 dirty="0" err="1">
                <a:solidFill>
                  <a:srgbClr val="9A3412"/>
                </a:solidFill>
                <a:latin typeface="幼圆" panose="02010509060101010101" pitchFamily="49" charset="-122"/>
                <a:ea typeface="幼圆" panose="02010509060101010101" pitchFamily="49" charset="-122"/>
                <a:cs typeface="Noto Sans SC"/>
                <a:sym typeface="Noto Sans SC"/>
              </a:rPr>
              <a:t>喵鲜猫粮</a:t>
            </a:r>
            <a:r>
              <a:rPr lang="zh-CN" altLang="en-US" sz="6000" b="1" i="0" u="none" strike="noStrike" dirty="0">
                <a:solidFill>
                  <a:srgbClr val="9A3412"/>
                </a:solidFill>
                <a:latin typeface="幼圆" panose="02010509060101010101" pitchFamily="49" charset="-122"/>
                <a:ea typeface="幼圆" panose="02010509060101010101" pitchFamily="49" charset="-122"/>
                <a:cs typeface="Noto Sans SC"/>
                <a:sym typeface="Noto Sans SC"/>
              </a:rPr>
              <a:t>商店</a:t>
            </a:r>
            <a:endParaRPr lang="en-US" sz="12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Connector 7"/>
          <p:cNvCxnSpPr>
            <a:cxnSpLocks/>
          </p:cNvCxnSpPr>
          <p:nvPr/>
        </p:nvCxnSpPr>
        <p:spPr>
          <a:xfrm flipV="1">
            <a:off x="1067617" y="3797300"/>
            <a:ext cx="295623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F7B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 txBox="1"/>
          <p:nvPr/>
        </p:nvSpPr>
        <p:spPr>
          <a:xfrm>
            <a:off x="1067617" y="4425950"/>
            <a:ext cx="5443794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基于</a:t>
            </a:r>
            <a:r>
              <a:rPr lang="en-US" sz="1400" b="0" i="0" u="none" strike="noStrike" dirty="0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JavaWeb</a:t>
            </a:r>
            <a:r>
              <a:rPr lang="en-US" sz="1400" b="0" i="0" u="none" strike="noStrike" dirty="0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 (Servlet + JSP + MySQL) </a:t>
            </a:r>
            <a:r>
              <a:rPr lang="en-US" sz="1400" b="0" i="0" u="none" strike="noStrike" dirty="0" err="1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的猫粮线上购物平台</a:t>
            </a:r>
            <a:endParaRPr lang="en-US" sz="11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9917599" y="5588000"/>
            <a:ext cx="161898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dirty="0" err="1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Noto Sans SC"/>
              </a:rPr>
              <a:t>汇报</a:t>
            </a:r>
            <a:r>
              <a:rPr lang="zh-CN" altLang="en-US" dirty="0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Noto Sans SC"/>
              </a:rPr>
              <a:t>小组：第三组</a:t>
            </a:r>
            <a:endParaRPr lang="en-US" dirty="0">
              <a:solidFill>
                <a:srgbClr val="78716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0156722" y="5969000"/>
            <a:ext cx="1019277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2026年10月</a:t>
            </a:r>
            <a:endParaRPr lang="en-US" sz="11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29F09EDD-7F77-AEA8-C480-162672698264}"/>
              </a:ext>
            </a:extLst>
          </p:cNvPr>
          <p:cNvSpPr txBox="1"/>
          <p:nvPr/>
        </p:nvSpPr>
        <p:spPr>
          <a:xfrm>
            <a:off x="1197895" y="3168650"/>
            <a:ext cx="269567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800" b="1" dirty="0">
                <a:solidFill>
                  <a:srgbClr val="FF7B00"/>
                </a:solidFill>
                <a:latin typeface="Noto Sans SC"/>
                <a:ea typeface="Noto Sans SC"/>
                <a:sym typeface="Noto Sans SC"/>
              </a:rPr>
              <a:t>Cat Food Store</a:t>
            </a:r>
            <a:endParaRPr lang="en-US" sz="2800" b="1" dirty="0">
              <a:solidFill>
                <a:srgbClr val="FF7B00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778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200" dirty="0"/>
          </a:p>
        </p:txBody>
      </p:sp>
      <p:sp>
        <p:nvSpPr>
          <p:cNvPr id="6" name="AutoShape 6"/>
          <p:cNvSpPr txBox="1"/>
          <p:nvPr/>
        </p:nvSpPr>
        <p:spPr>
          <a:xfrm>
            <a:off x="2032000" y="1778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9A341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项目概述</a:t>
            </a:r>
            <a:endParaRPr lang="en-US" sz="11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2032000" y="2222500"/>
            <a:ext cx="762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78716C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项目背景、目标与解决的核心问题</a:t>
            </a:r>
            <a:endParaRPr lang="en-US" sz="1100" dirty="0"/>
          </a:p>
        </p:txBody>
      </p:sp>
      <p:sp>
        <p:nvSpPr>
          <p:cNvPr id="8" name="AutoShape 8"/>
          <p:cNvSpPr txBox="1"/>
          <p:nvPr/>
        </p:nvSpPr>
        <p:spPr>
          <a:xfrm>
            <a:off x="1016000" y="2730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200" dirty="0"/>
          </a:p>
        </p:txBody>
      </p:sp>
      <p:sp>
        <p:nvSpPr>
          <p:cNvPr id="9" name="AutoShape 9"/>
          <p:cNvSpPr txBox="1"/>
          <p:nvPr/>
        </p:nvSpPr>
        <p:spPr>
          <a:xfrm>
            <a:off x="2032000" y="2730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9A341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技术选型与架构</a:t>
            </a:r>
            <a:endParaRPr lang="en-US" sz="11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2032000" y="3175000"/>
            <a:ext cx="762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8716C"/>
                </a:solidFill>
                <a:latin typeface="Noto Sans SC"/>
                <a:ea typeface="Noto Sans SC"/>
                <a:cs typeface="Noto Sans SC"/>
                <a:sym typeface="Noto Sans SC"/>
              </a:rPr>
              <a:t>JavaWeb技术栈、MVC分层架构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200" dirty="0"/>
          </a:p>
        </p:txBody>
      </p:sp>
      <p:sp>
        <p:nvSpPr>
          <p:cNvPr id="12" name="AutoShape 12"/>
          <p:cNvSpPr txBox="1"/>
          <p:nvPr/>
        </p:nvSpPr>
        <p:spPr>
          <a:xfrm>
            <a:off x="2032000" y="3683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A341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系统功能模块</a:t>
            </a:r>
            <a:endParaRPr lang="en-US" sz="11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2032000" y="4127500"/>
            <a:ext cx="762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8716C"/>
                </a:solidFill>
                <a:latin typeface="Noto Sans SC"/>
                <a:ea typeface="Noto Sans SC"/>
                <a:cs typeface="Noto Sans SC"/>
                <a:sym typeface="Noto Sans SC"/>
              </a:rPr>
              <a:t>用户、商品、购物车、订单、权限五大模块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16000" y="4635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200" dirty="0"/>
          </a:p>
        </p:txBody>
      </p:sp>
      <p:sp>
        <p:nvSpPr>
          <p:cNvPr id="15" name="AutoShape 15"/>
          <p:cNvSpPr txBox="1"/>
          <p:nvPr/>
        </p:nvSpPr>
        <p:spPr>
          <a:xfrm>
            <a:off x="2032000" y="4635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A341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数据库设计</a:t>
            </a:r>
            <a:endParaRPr lang="en-US" sz="11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2032000" y="5080000"/>
            <a:ext cx="762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8716C"/>
                </a:solidFill>
                <a:latin typeface="Noto Sans SC"/>
                <a:ea typeface="Noto Sans SC"/>
                <a:cs typeface="Noto Sans SC"/>
                <a:sym typeface="Noto Sans SC"/>
              </a:rPr>
              <a:t>catshop数据库结构、表关系与字段设计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016000" y="5588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 dirty="0"/>
          </a:p>
        </p:txBody>
      </p:sp>
      <p:sp>
        <p:nvSpPr>
          <p:cNvPr id="18" name="AutoShape 18"/>
          <p:cNvSpPr txBox="1"/>
          <p:nvPr/>
        </p:nvSpPr>
        <p:spPr>
          <a:xfrm>
            <a:off x="2032000" y="5588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A341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管理员后台</a:t>
            </a:r>
            <a:endParaRPr lang="en-US" sz="11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2032000" y="6032500"/>
            <a:ext cx="762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8716C"/>
                </a:solidFill>
                <a:latin typeface="Noto Sans SC"/>
                <a:ea typeface="Noto Sans SC"/>
                <a:cs typeface="Noto Sans SC"/>
                <a:sym typeface="Noto Sans SC"/>
              </a:rPr>
              <a:t>商品管理、上下架操作与后台功能展示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2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6891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FF7B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项目简介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143820" y="1778000"/>
            <a:ext cx="482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 dirty="0">
                <a:solidFill>
                  <a:srgbClr val="57534E"/>
                </a:solidFill>
                <a:latin typeface="+mn-ea"/>
                <a:ea typeface="+mn-ea"/>
                <a:cs typeface="Noto Sans SC"/>
                <a:sym typeface="Noto Sans SC"/>
              </a:rPr>
              <a:t>"</a:t>
            </a:r>
            <a:r>
              <a:rPr lang="en-US" sz="1500" b="0" i="0" u="none" strike="noStrike" dirty="0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喵鲜猫粮商城"是基于JavaWeb技术栈开发的课程项目，面向养猫人群提供商品浏览、购物车选购、线上下单购买猫粮的完整购物流程。同时为管理员提供商品、用户、订单的后台管理能力。</a:t>
            </a:r>
            <a:endParaRPr lang="en-US" sz="11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 dirty="0" err="1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采用</a:t>
            </a:r>
            <a:r>
              <a:rPr lang="en-US" sz="1500" b="0" i="0" u="none" strike="noStrike" dirty="0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 Servlet + JSP + MySQL </a:t>
            </a:r>
            <a:r>
              <a:rPr lang="en-US" sz="1500" b="0" i="0" u="none" strike="noStrike" dirty="0" err="1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实现，前端结合原生</a:t>
            </a:r>
            <a:r>
              <a:rPr lang="en-US" sz="1500" b="0" i="0" u="none" strike="noStrike" dirty="0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JavaScript（AJAX）实现无刷新交互，具备简单易用、可扩展、权限清晰的特点</a:t>
            </a:r>
            <a:r>
              <a:rPr lang="en-US" sz="1500" b="0" i="0" u="none" strike="noStrike" dirty="0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 txBox="1"/>
          <p:nvPr/>
        </p:nvSpPr>
        <p:spPr>
          <a:xfrm>
            <a:off x="6350000" y="1778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解决的核心问题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477820" y="1828800"/>
            <a:ext cx="482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 marL="381000" indent="-190500"/>
            <a:lvl2pPr marL="838200" indent="-190500"/>
            <a:lvl3pPr marL="1295400" indent="-190500"/>
            <a:lvl4pPr marL="1752600" indent="-190500"/>
            <a:lvl5pPr marL="2209800" indent="-190500"/>
            <a:lvl6pPr marL="2667000" indent="-190500"/>
            <a:lvl7pPr marL="3124200" indent="-190500"/>
            <a:lvl8pPr marL="3581400" indent="-190500"/>
            <a:lvl9pPr marL="4038600" indent="-190500"/>
          </a:lstStyle>
          <a:p>
            <a:pPr marL="381000" indent="-190500" algn="l">
              <a:lnSpc>
                <a:spcPct val="150000"/>
              </a:lnSpc>
              <a:buClr>
                <a:srgbClr val="FF7B00"/>
              </a:buClr>
              <a:buFont typeface="Arial"/>
              <a:buChar char="•"/>
              <a:defRPr/>
            </a:pPr>
            <a:r>
              <a:rPr lang="en-US" sz="15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商品信息展示与分类检索</a:t>
            </a:r>
            <a:endParaRPr lang="en-US" sz="1100" dirty="0"/>
          </a:p>
          <a:p>
            <a:pPr marL="381000" indent="-190500" algn="l">
              <a:lnSpc>
                <a:spcPct val="150000"/>
              </a:lnSpc>
              <a:buClr>
                <a:srgbClr val="FF7B00"/>
              </a:buClr>
              <a:buFont typeface="Arial"/>
              <a:buChar char="•"/>
            </a:pPr>
            <a:r>
              <a:rPr lang="en-US" sz="15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用户注册登录与个人信息管理</a:t>
            </a:r>
            <a:endParaRPr lang="en-US" sz="1500" b="1" i="0" u="none" strike="noStrike" dirty="0">
              <a:solidFill>
                <a:srgbClr val="9A341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381000" indent="-190500" algn="l">
              <a:lnSpc>
                <a:spcPct val="150000"/>
              </a:lnSpc>
              <a:buClr>
                <a:srgbClr val="FF7B00"/>
              </a:buClr>
              <a:buFont typeface="Arial"/>
              <a:buChar char="•"/>
            </a:pPr>
            <a:r>
              <a:rPr lang="en-US" sz="15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500" b="1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 Session </a:t>
            </a:r>
            <a:r>
              <a:rPr lang="en-US" sz="15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的购物车流程</a:t>
            </a:r>
            <a:endParaRPr lang="en-US" sz="1500" b="1" i="0" u="none" strike="noStrike" dirty="0">
              <a:solidFill>
                <a:srgbClr val="9A341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381000" indent="-190500" algn="l">
              <a:lnSpc>
                <a:spcPct val="150000"/>
              </a:lnSpc>
              <a:buClr>
                <a:srgbClr val="FF7B00"/>
              </a:buClr>
              <a:buFont typeface="Arial"/>
              <a:buChar char="•"/>
            </a:pPr>
            <a:r>
              <a:rPr lang="en-US" sz="15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订单生成与状态流转管理</a:t>
            </a:r>
            <a:endParaRPr lang="en-US" sz="1500" b="1" i="0" u="none" strike="noStrike" dirty="0">
              <a:solidFill>
                <a:srgbClr val="9A341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381000" indent="-190500" algn="l">
              <a:lnSpc>
                <a:spcPct val="150000"/>
              </a:lnSpc>
              <a:buClr>
                <a:srgbClr val="FF7B00"/>
              </a:buClr>
              <a:buFont typeface="Arial"/>
              <a:buChar char="•"/>
            </a:pPr>
            <a:r>
              <a:rPr lang="en-US" sz="15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管理员后台统一管理能力</a:t>
            </a:r>
            <a:endParaRPr lang="en-US" sz="1500" b="1" i="0" u="none" strike="noStrike" dirty="0">
              <a:solidFill>
                <a:srgbClr val="9A341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A8A29E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项目定位：面向养猫人群的垂直类猫粮电商平台，覆盖用户购物与后台管理全流程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3948465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技术选型与整体架构</a:t>
            </a:r>
            <a:endParaRPr lang="en-US" sz="1200" dirty="0"/>
          </a:p>
        </p:txBody>
      </p:sp>
      <p:cxnSp>
        <p:nvCxnSpPr>
          <p:cNvPr id="4" name="Connector 4"/>
          <p:cNvCxnSpPr/>
          <p:nvPr/>
        </p:nvCxnSpPr>
        <p:spPr>
          <a:xfrm rot="-4296">
            <a:off x="1016004" y="1390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651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技术栈选型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2222500"/>
          <a:ext cx="10160000" cy="2082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类别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34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</a:t>
                      </a: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/ </a:t>
                      </a:r>
                      <a:r>
                        <a:rPr lang="en-US" sz="14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工具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34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341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后端语言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Java (JDK 17)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面向对象实现业务逻辑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Web 框架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Jakarta Servlet 5.0 (JSP)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运行于 Tomcat 10，Servlet 控制器 + JSP 视图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前端技术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HTML5 / CSS3 / JavaScript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原生 JS + AJAX 实现无刷新交互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MySQL 8.0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关系型数据库，存储用户、商品、订单数据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 txBox="1"/>
          <p:nvPr/>
        </p:nvSpPr>
        <p:spPr>
          <a:xfrm>
            <a:off x="1016000" y="4445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MVC 分层架构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016500"/>
            <a:ext cx="3175000" cy="635000"/>
          </a:xfrm>
          <a:prstGeom prst="roundRect">
            <a:avLst>
              <a:gd name="adj" fmla="val 16000"/>
            </a:avLst>
          </a:prstGeom>
          <a:solidFill>
            <a:srgbClr val="FED7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Model </a:t>
            </a: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模型层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JavaBean · DAO </a:t>
            </a:r>
            <a:r>
              <a:rPr lang="en-US" sz="1200" b="0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</a:t>
            </a:r>
            <a:endParaRPr lang="en-US" sz="1200" b="0" i="0" u="none" strike="noStrike" dirty="0">
              <a:solidFill>
                <a:srgbClr val="9A341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699000" y="5016500"/>
            <a:ext cx="2540000" cy="635000"/>
          </a:xfrm>
          <a:prstGeom prst="roundRect">
            <a:avLst>
              <a:gd name="adj" fmla="val 16000"/>
            </a:avLst>
          </a:prstGeom>
          <a:solidFill>
            <a:srgbClr val="FED7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View </a:t>
            </a: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视图层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JSP · JSTL · EL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0" y="5016500"/>
            <a:ext cx="2540000" cy="635000"/>
          </a:xfrm>
          <a:prstGeom prst="roundRect">
            <a:avLst>
              <a:gd name="adj" fmla="val 16000"/>
            </a:avLst>
          </a:prstGeom>
          <a:solidFill>
            <a:srgbClr val="FED7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Controller </a:t>
            </a: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控制层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Servlet </a:t>
            </a:r>
            <a:r>
              <a:rPr lang="en-US" sz="1200" b="0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请求处理</a:t>
            </a:r>
            <a:endParaRPr lang="en-US" sz="1200" b="0" i="0" u="none" strike="noStrike" dirty="0">
              <a:solidFill>
                <a:srgbClr val="9A341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85925">
            <a:off x="4191079" y="5327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7B0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2" name="Connector 12"/>
          <p:cNvCxnSpPr/>
          <p:nvPr/>
        </p:nvCxnSpPr>
        <p:spPr>
          <a:xfrm rot="-57290">
            <a:off x="7239053" y="5327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7B0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8A29E"/>
                </a:solidFill>
                <a:latin typeface="Noto Sans SC"/>
                <a:ea typeface="Noto Sans SC"/>
                <a:cs typeface="Noto Sans SC"/>
                <a:sym typeface="Noto Sans SC"/>
              </a:rPr>
              <a:t>标准 MVC 三层架构，实现业务逻辑与视图分离，代码解耦，便于维护和扩展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系统功能模块总览</a:t>
            </a:r>
            <a:endParaRPr lang="en-US" sz="1200" dirty="0"/>
          </a:p>
        </p:txBody>
      </p:sp>
      <p:cxnSp>
        <p:nvCxnSpPr>
          <p:cNvPr id="4" name="Connector 4"/>
          <p:cNvCxnSpPr/>
          <p:nvPr/>
        </p:nvCxnSpPr>
        <p:spPr>
          <a:xfrm rot="-4296">
            <a:off x="1016004" y="1390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651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系统共分为五大功能模块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49500"/>
            <a:ext cx="3048000" cy="1651000"/>
          </a:xfrm>
          <a:prstGeom prst="roundRect">
            <a:avLst>
              <a:gd name="adj" fmla="val 7692"/>
            </a:avLst>
          </a:prstGeom>
          <a:solidFill>
            <a:srgbClr val="FED7A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用户模块</a:t>
            </a:r>
            <a:endParaRPr lang="en-US" sz="1100" dirty="0"/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注册（用户名查重</a:t>
            </a:r>
            <a:r>
              <a:rPr lang="en-US" sz="1200" b="0" i="0" u="none" strike="noStrike" dirty="0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登录与</a:t>
            </a:r>
            <a:r>
              <a:rPr lang="en-US" sz="1200" b="0" i="0" u="none" strike="noStrike" dirty="0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 Session </a:t>
            </a: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校验</a:t>
            </a:r>
            <a:endParaRPr lang="en-US" sz="1200" b="0" i="0" u="none" strike="noStrike" dirty="0">
              <a:solidFill>
                <a:srgbClr val="57534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个人信息查看修改</a:t>
            </a:r>
            <a:endParaRPr lang="en-US" sz="1200" b="0" i="0" u="none" strike="noStrike" dirty="0">
              <a:solidFill>
                <a:srgbClr val="57534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密码重置</a:t>
            </a:r>
            <a:endParaRPr lang="en-US" sz="1200" b="0" i="0" u="none" strike="noStrike" dirty="0">
              <a:solidFill>
                <a:srgbClr val="57534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0" y="2349500"/>
            <a:ext cx="3048000" cy="1651000"/>
          </a:xfrm>
          <a:prstGeom prst="roundRect">
            <a:avLst>
              <a:gd name="adj" fmla="val 7692"/>
            </a:avLst>
          </a:prstGeom>
          <a:solidFill>
            <a:srgbClr val="FED7A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商品模块</a:t>
            </a:r>
            <a:endParaRPr lang="en-US" sz="1100"/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商品列表展示</a:t>
            </a: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分类筛选（幼猫/成猫/全期）</a:t>
            </a: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商品详情页</a:t>
            </a: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后台商品增删改查</a:t>
            </a:r>
          </a:p>
        </p:txBody>
      </p:sp>
      <p:sp>
        <p:nvSpPr>
          <p:cNvPr id="8" name="AutoShape 8"/>
          <p:cNvSpPr/>
          <p:nvPr/>
        </p:nvSpPr>
        <p:spPr>
          <a:xfrm>
            <a:off x="8128000" y="2349500"/>
            <a:ext cx="3048000" cy="1651000"/>
          </a:xfrm>
          <a:prstGeom prst="roundRect">
            <a:avLst>
              <a:gd name="adj" fmla="val 7692"/>
            </a:avLst>
          </a:prstGeom>
          <a:solidFill>
            <a:srgbClr val="FED7A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购物车模块</a:t>
            </a:r>
            <a:endParaRPr lang="en-US" sz="1100"/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Session 的购物车</a:t>
            </a: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数量增减、单项删除</a:t>
            </a: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全选/单选</a:t>
            </a: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金额数量实时计算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4826000" cy="1651000"/>
          </a:xfrm>
          <a:prstGeom prst="roundRect">
            <a:avLst>
              <a:gd name="adj" fmla="val 7692"/>
            </a:avLst>
          </a:prstGeom>
          <a:solidFill>
            <a:srgbClr val="FED7A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订单模块</a:t>
            </a:r>
            <a:endParaRPr lang="en-US" sz="1100" dirty="0"/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购物车结算下单（事务保证扣库存一致性</a:t>
            </a:r>
            <a:r>
              <a:rPr lang="en-US" sz="1200" b="0" i="0" u="none" strike="noStrike" dirty="0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订单列表、订单详情</a:t>
            </a:r>
            <a:endParaRPr lang="en-US" sz="1200" b="0" i="0" u="none" strike="noStrike" dirty="0">
              <a:solidFill>
                <a:srgbClr val="57534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模拟支付、取消订单（回滚库存</a:t>
            </a:r>
            <a:r>
              <a:rPr lang="en-US" sz="1200" b="0" i="0" u="none" strike="noStrike" dirty="0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管理员后台发货、完成操作</a:t>
            </a:r>
            <a:endParaRPr lang="en-US" sz="1200" b="0" i="0" u="none" strike="noStrike" dirty="0">
              <a:solidFill>
                <a:srgbClr val="57534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0" y="4318000"/>
            <a:ext cx="4826000" cy="1651000"/>
          </a:xfrm>
          <a:prstGeom prst="roundRect">
            <a:avLst>
              <a:gd name="adj" fmla="val 7692"/>
            </a:avLst>
          </a:prstGeom>
          <a:solidFill>
            <a:srgbClr val="FED7A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权限模块</a:t>
            </a:r>
            <a:endParaRPr lang="en-US" sz="1100" dirty="0"/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普通用户：注册登录后购物下单</a:t>
            </a:r>
            <a:endParaRPr lang="en-US" sz="1200" b="0" i="0" u="none" strike="noStrike" dirty="0">
              <a:solidFill>
                <a:srgbClr val="57534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管理员：进入后台管理</a:t>
            </a:r>
            <a:endParaRPr lang="en-US" sz="1200" b="0" i="0" u="none" strike="noStrike" dirty="0">
              <a:solidFill>
                <a:srgbClr val="57534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商品、用户、订单统一管理</a:t>
            </a:r>
            <a:endParaRPr lang="en-US" sz="1200" b="0" i="0" u="none" strike="noStrike" dirty="0">
              <a:solidFill>
                <a:srgbClr val="57534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33333"/>
              </a:lnSpc>
            </a:pP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LoginFilter</a:t>
            </a:r>
            <a:r>
              <a:rPr lang="en-US" sz="1200" b="0" i="0" u="none" strike="noStrike" dirty="0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统一拦截未登录请求</a:t>
            </a:r>
            <a:endParaRPr lang="en-US" sz="1200" b="0" i="0" u="none" strike="noStrike" dirty="0">
              <a:solidFill>
                <a:srgbClr val="57534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50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03 · </a:t>
            </a:r>
            <a:r>
              <a:rPr lang="en-US" sz="1400" b="1" i="0" u="none" strike="noStrike" dirty="0" err="1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用户模块</a:t>
            </a:r>
            <a:endParaRPr lang="en-US" sz="1100" dirty="0"/>
          </a:p>
        </p:txBody>
      </p:sp>
      <p:sp>
        <p:nvSpPr>
          <p:cNvPr id="4" name="AutoShape 4"/>
          <p:cNvSpPr txBox="1"/>
          <p:nvPr/>
        </p:nvSpPr>
        <p:spPr>
          <a:xfrm>
            <a:off x="1016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用户注册与登录</a:t>
            </a:r>
            <a:endParaRPr lang="en-US" sz="1200" dirty="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5119" r="5119"/>
          <a:stretch>
            <a:fillRect/>
          </a:stretch>
        </p:blipFill>
        <p:spPr>
          <a:xfrm>
            <a:off x="1016000" y="2306657"/>
            <a:ext cx="3174181" cy="317418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825090" y="5742448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用户注册页面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640097" y="1526048"/>
            <a:ext cx="4563806" cy="421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000" b="1" i="0" u="none" strike="noStrike" dirty="0" err="1">
                <a:solidFill>
                  <a:srgbClr val="9A3412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Noto Sans SC"/>
                <a:sym typeface="Noto Sans SC"/>
              </a:rPr>
              <a:t>功能说明</a:t>
            </a:r>
            <a:r>
              <a:rPr lang="en-US" sz="2000" b="1" i="0" u="none" strike="noStrike" dirty="0">
                <a:solidFill>
                  <a:srgbClr val="9A3412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Noto Sans SC"/>
                <a:sym typeface="Noto Sans SC"/>
              </a:rPr>
              <a:t>:</a:t>
            </a:r>
            <a:endParaRPr lang="en-US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57534E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Noto Sans SC"/>
                <a:sym typeface="Noto Sans SC"/>
              </a:rPr>
              <a:t>用户注册：用户名</a:t>
            </a:r>
            <a:r>
              <a:rPr lang="en-US" sz="1800" b="0" i="0" u="none" strike="noStrike" dirty="0">
                <a:solidFill>
                  <a:srgbClr val="57534E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Noto Sans SC"/>
                <a:sym typeface="Noto Sans SC"/>
              </a:rPr>
              <a:t> + </a:t>
            </a:r>
            <a:r>
              <a:rPr lang="en-US" sz="1800" b="0" i="0" u="none" strike="noStrike" dirty="0" err="1">
                <a:solidFill>
                  <a:srgbClr val="57534E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Noto Sans SC"/>
                <a:sym typeface="Noto Sans SC"/>
              </a:rPr>
              <a:t>密码注册账号</a:t>
            </a:r>
            <a:endParaRPr lang="en-US" sz="1800" b="0" i="0" u="none" strike="noStrike" dirty="0">
              <a:solidFill>
                <a:srgbClr val="57534E"/>
              </a:solidFill>
              <a:latin typeface="华文宋体" panose="02010600040101010101" pitchFamily="2" charset="-122"/>
              <a:ea typeface="华文宋体" panose="02010600040101010101" pitchFamily="2" charset="-122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57534E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Noto Sans SC"/>
                <a:sym typeface="Noto Sans SC"/>
              </a:rPr>
              <a:t>用户登录：账号密码验证登录</a:t>
            </a:r>
            <a:endParaRPr lang="en-US" sz="1800" b="0" i="0" u="none" strike="noStrike" dirty="0">
              <a:solidFill>
                <a:srgbClr val="57534E"/>
              </a:solidFill>
              <a:latin typeface="华文宋体" panose="02010600040101010101" pitchFamily="2" charset="-122"/>
              <a:ea typeface="华文宋体" panose="02010600040101010101" pitchFamily="2" charset="-122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57534E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Noto Sans SC"/>
                <a:sym typeface="Noto Sans SC"/>
              </a:rPr>
              <a:t>橙色主题界面设计</a:t>
            </a:r>
            <a:endParaRPr lang="en-US" sz="1800" b="0" i="0" u="none" strike="noStrike" dirty="0">
              <a:solidFill>
                <a:srgbClr val="57534E"/>
              </a:solidFill>
              <a:latin typeface="华文宋体" panose="02010600040101010101" pitchFamily="2" charset="-122"/>
              <a:ea typeface="华文宋体" panose="02010600040101010101" pitchFamily="2" charset="-122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57534E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Noto Sans SC"/>
                <a:sym typeface="Noto Sans SC"/>
              </a:rPr>
              <a:t>登录后进入商城首页</a:t>
            </a:r>
            <a:endParaRPr lang="en-US" sz="1800" b="0" i="0" u="none" strike="noStrike" dirty="0">
              <a:solidFill>
                <a:srgbClr val="57534E"/>
              </a:solidFill>
              <a:latin typeface="华文宋体" panose="02010600040101010101" pitchFamily="2" charset="-122"/>
              <a:ea typeface="华文宋体" panose="02010600040101010101" pitchFamily="2" charset="-122"/>
              <a:cs typeface="Noto Sans SC"/>
              <a:sym typeface="Noto Sans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777F492-41CC-B7A5-F80B-8581ED056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760" y="2360237"/>
            <a:ext cx="3498061" cy="3067020"/>
          </a:xfrm>
          <a:prstGeom prst="rect">
            <a:avLst/>
          </a:prstGeom>
        </p:spPr>
      </p:pic>
      <p:sp>
        <p:nvSpPr>
          <p:cNvPr id="12" name="AutoShape 7">
            <a:extLst>
              <a:ext uri="{FF2B5EF4-FFF2-40B4-BE49-F238E27FC236}">
                <a16:creationId xmlns:a16="http://schemas.microsoft.com/office/drawing/2014/main" id="{1DFA147C-2D8D-4D82-B4D8-C3116D33FCE2}"/>
              </a:ext>
            </a:extLst>
          </p:cNvPr>
          <p:cNvSpPr txBox="1"/>
          <p:nvPr/>
        </p:nvSpPr>
        <p:spPr>
          <a:xfrm>
            <a:off x="4353232" y="5692963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用户</a:t>
            </a:r>
            <a:r>
              <a:rPr lang="zh-CN" altLang="en-US" sz="1400" b="0" i="0" u="none" strike="noStrike" dirty="0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登录</a:t>
            </a:r>
            <a:r>
              <a:rPr lang="en-US" sz="14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页面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首页展示</a:t>
            </a:r>
            <a:endParaRPr lang="en-US" sz="12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1238865" y="6309954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A8A29E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项目定位：面向养猫人群的垂直类猫粮电商平台，覆盖用户购物与后台管理全流程</a:t>
            </a:r>
            <a:endParaRPr lang="en-US" sz="11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1885C69-788D-3BCB-E3F7-8FB3581F7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485" y="1514885"/>
            <a:ext cx="9026012" cy="4795069"/>
          </a:xfrm>
          <a:prstGeom prst="rect">
            <a:avLst/>
          </a:prstGeom>
        </p:spPr>
      </p:pic>
      <p:sp>
        <p:nvSpPr>
          <p:cNvPr id="6" name="AutoShape 3">
            <a:extLst>
              <a:ext uri="{FF2B5EF4-FFF2-40B4-BE49-F238E27FC236}">
                <a16:creationId xmlns:a16="http://schemas.microsoft.com/office/drawing/2014/main" id="{0B5FD53E-43C9-5BE6-23D9-11B191CDC7DD}"/>
              </a:ext>
            </a:extLst>
          </p:cNvPr>
          <p:cNvSpPr txBox="1"/>
          <p:nvPr/>
        </p:nvSpPr>
        <p:spPr>
          <a:xfrm>
            <a:off x="1016000" y="38735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03 · </a:t>
            </a:r>
            <a:r>
              <a:rPr lang="en-US" sz="1400" b="1" i="0" u="none" strike="noStrike" dirty="0" err="1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用户模块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50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04 · 商品模块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商品列表与详情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999" b="999"/>
          <a:stretch>
            <a:fillRect/>
          </a:stretch>
        </p:blipFill>
        <p:spPr>
          <a:xfrm>
            <a:off x="1016000" y="1905000"/>
            <a:ext cx="4826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1016000" y="4826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商品列表页：分类筛选 + 搜索功能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l="6269" r="6269"/>
          <a:stretch>
            <a:fillRect/>
          </a:stretch>
        </p:blipFill>
        <p:spPr>
          <a:xfrm>
            <a:off x="6223000" y="1905000"/>
            <a:ext cx="4826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 txBox="1"/>
          <p:nvPr/>
        </p:nvSpPr>
        <p:spPr>
          <a:xfrm>
            <a:off x="6223000" y="4826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商品详情页：加入购物车 / 立即购买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334000"/>
            <a:ext cx="10160000" cy="762000"/>
          </a:xfrm>
          <a:prstGeom prst="roundRect">
            <a:avLst>
              <a:gd name="adj" fmla="val 13333"/>
            </a:avLst>
          </a:prstGeom>
          <a:solidFill>
            <a:srgbClr val="FED7AA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商品分类：全部</a:t>
            </a:r>
            <a:r>
              <a:rPr lang="en-US" sz="1400" b="1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幼猫</a:t>
            </a:r>
            <a:r>
              <a:rPr lang="en-US" sz="1400" b="1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成猫</a:t>
            </a:r>
            <a:r>
              <a:rPr lang="en-US" sz="1400" b="1" i="0" u="none" strike="noStrike" dirty="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4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全期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支持关键词搜索，展示商品图片、价格、分类和库存信息</a:t>
            </a:r>
            <a:endParaRPr lang="en-US" sz="1300" b="0" i="0" u="none" strike="noStrike" dirty="0">
              <a:solidFill>
                <a:srgbClr val="57534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50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05 · 购物车与订单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购物车结算与订单管理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5869" r="5869"/>
          <a:stretch>
            <a:fillRect/>
          </a:stretch>
        </p:blipFill>
        <p:spPr>
          <a:xfrm>
            <a:off x="1016000" y="1905000"/>
            <a:ext cx="4826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1016000" y="4826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购物车结算页：数量调整 + 库存校验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l="4971" r="4971"/>
          <a:stretch>
            <a:fillRect/>
          </a:stretch>
        </p:blipFill>
        <p:spPr>
          <a:xfrm>
            <a:off x="6223000" y="1905000"/>
            <a:ext cx="4826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 txBox="1"/>
          <p:nvPr/>
        </p:nvSpPr>
        <p:spPr>
          <a:xfrm>
            <a:off x="6223000" y="4826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我的订单页：订单列表 + 支付/取消操作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334000"/>
            <a:ext cx="10160000" cy="762000"/>
          </a:xfrm>
          <a:prstGeom prst="roundRect">
            <a:avLst>
              <a:gd name="adj" fmla="val 13333"/>
            </a:avLst>
          </a:prstGeom>
          <a:solidFill>
            <a:srgbClr val="FED7AA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7534E"/>
                </a:solidFill>
                <a:latin typeface="Noto Sans SC"/>
                <a:ea typeface="Noto Sans SC"/>
                <a:cs typeface="Noto Sans SC"/>
                <a:sym typeface="Noto Sans SC"/>
              </a:rPr>
              <a:t>购物车数量增减、库存不足自动提示 · 填写收货信息提交订单 · 订单待付款状态下可支付或取消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50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06 · 管理员后台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88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商品管理后台</a:t>
            </a:r>
            <a:endParaRPr lang="en-US" sz="1200" dirty="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9227" r="9227"/>
          <a:stretch>
            <a:fillRect/>
          </a:stretch>
        </p:blipFill>
        <p:spPr>
          <a:xfrm>
            <a:off x="1016000" y="1841500"/>
            <a:ext cx="63500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8493433" y="1524000"/>
            <a:ext cx="355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000" b="1" i="0" u="none" strike="noStrike" dirty="0" err="1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后台功能</a:t>
            </a:r>
            <a:endParaRPr lang="en-US" dirty="0"/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商品列表展示</a:t>
            </a:r>
            <a:endParaRPr lang="en-US" sz="1800" b="0" i="0" u="none" strike="noStrike" dirty="0">
              <a:solidFill>
                <a:srgbClr val="57534E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新增商品</a:t>
            </a:r>
            <a:endParaRPr lang="en-US" sz="1800" b="0" i="0" u="none" strike="noStrike" dirty="0">
              <a:solidFill>
                <a:srgbClr val="57534E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编辑商品信息</a:t>
            </a:r>
            <a:endParaRPr lang="en-US" sz="1800" b="0" i="0" u="none" strike="noStrike" dirty="0">
              <a:solidFill>
                <a:srgbClr val="57534E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删除商品</a:t>
            </a:r>
            <a:endParaRPr lang="en-US" sz="1800" b="0" i="0" u="none" strike="noStrike" dirty="0">
              <a:solidFill>
                <a:srgbClr val="57534E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商品上架</a:t>
            </a:r>
            <a:r>
              <a:rPr lang="en-US" sz="1800" b="0" i="0" u="none" strike="noStrike" dirty="0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 / </a:t>
            </a:r>
            <a:r>
              <a:rPr lang="en-US" sz="1800" b="0" i="0" u="none" strike="noStrike" dirty="0" err="1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下架</a:t>
            </a:r>
            <a:endParaRPr lang="en-US" sz="1800" b="0" i="0" u="none" strike="noStrike" dirty="0">
              <a:solidFill>
                <a:srgbClr val="57534E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57534E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查看商品库存</a:t>
            </a:r>
            <a:endParaRPr lang="en-US" sz="1800" b="0" i="0" u="none" strike="noStrike" dirty="0">
              <a:solidFill>
                <a:srgbClr val="57534E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Noto Sans SC"/>
              <a:sym typeface="Noto Sans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1016000" y="571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8A29E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管理员可对商品进行全生命周期管理，包括上架、编辑、删除和库存调整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7B00">
                  <a:alpha val="100000"/>
                </a:srgbClr>
              </a:gs>
              <a:gs pos="100000">
                <a:srgbClr val="FDBA7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1016000"/>
            <a:ext cx="1905000" cy="1905000"/>
          </a:xfrm>
          <a:prstGeom prst="ellipse">
            <a:avLst/>
          </a:prstGeom>
          <a:solidFill>
            <a:srgbClr val="FF7B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414000" y="3810000"/>
            <a:ext cx="1524000" cy="1524000"/>
          </a:xfrm>
          <a:prstGeom prst="ellipse">
            <a:avLst/>
          </a:prstGeom>
          <a:solidFill>
            <a:srgbClr val="FDBA7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2625213" y="2613742"/>
            <a:ext cx="6458974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6000" b="1" dirty="0">
                <a:solidFill>
                  <a:srgbClr val="9A3412"/>
                </a:solidFill>
                <a:latin typeface="Noto Sans SC"/>
                <a:ea typeface="Noto Sans SC"/>
                <a:sym typeface="Noto Sans SC"/>
              </a:rPr>
              <a:t>感谢观看</a:t>
            </a:r>
            <a:endParaRPr lang="en-US" sz="1200" dirty="0"/>
          </a:p>
        </p:txBody>
      </p:sp>
      <p:sp>
        <p:nvSpPr>
          <p:cNvPr id="6" name="AutoShape 6"/>
          <p:cNvSpPr txBox="1"/>
          <p:nvPr/>
        </p:nvSpPr>
        <p:spPr>
          <a:xfrm>
            <a:off x="2812026" y="3937000"/>
            <a:ext cx="6085348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7B00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200" dirty="0"/>
          </a:p>
        </p:txBody>
      </p:sp>
      <p:sp>
        <p:nvSpPr>
          <p:cNvPr id="9" name="AutoShape 9"/>
          <p:cNvSpPr txBox="1"/>
          <p:nvPr/>
        </p:nvSpPr>
        <p:spPr>
          <a:xfrm>
            <a:off x="9917599" y="5588000"/>
            <a:ext cx="161898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dirty="0" err="1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Noto Sans SC"/>
              </a:rPr>
              <a:t>汇报</a:t>
            </a:r>
            <a:r>
              <a:rPr lang="zh-CN" altLang="en-US" dirty="0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Noto Sans SC"/>
              </a:rPr>
              <a:t>小组：第三组</a:t>
            </a:r>
            <a:endParaRPr lang="en-US" dirty="0">
              <a:solidFill>
                <a:srgbClr val="78716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0156722" y="5969000"/>
            <a:ext cx="1019277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78716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/>
                <a:sym typeface="Noto Sans SC"/>
              </a:rPr>
              <a:t>2026年10月</a:t>
            </a:r>
            <a:endParaRPr lang="en-US" sz="11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1604272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656</Words>
  <Application>Microsoft Office PowerPoint</Application>
  <PresentationFormat>宽屏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Noto Sans SC</vt:lpstr>
      <vt:lpstr>Songti SC</vt:lpstr>
      <vt:lpstr>黑体</vt:lpstr>
      <vt:lpstr>华文宋体</vt:lpstr>
      <vt:lpstr>华文中宋</vt:lpstr>
      <vt:lpstr>幼圆</vt:lpstr>
      <vt:lpstr>Arial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兴舞 江</cp:lastModifiedBy>
  <cp:revision>14</cp:revision>
  <dcterms:modified xsi:type="dcterms:W3CDTF">2026-10-20T08:38:09Z</dcterms:modified>
</cp:coreProperties>
</file>